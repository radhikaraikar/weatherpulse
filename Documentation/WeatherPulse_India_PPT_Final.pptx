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6" r:id="rId2"/>
    <p:sldId id="257" r:id="rId3"/>
    <p:sldId id="258" r:id="rId4"/>
    <p:sldId id="259" r:id="rId5"/>
    <p:sldId id="260" r:id="rId6"/>
    <p:sldId id="261" r:id="rId7"/>
    <p:sldId id="267" r:id="rId8"/>
    <p:sldId id="268" r:id="rId9"/>
    <p:sldId id="269" r:id="rId10"/>
    <p:sldId id="270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175" autoAdjust="0"/>
    <p:restoredTop sz="94610" autoAdjust="0"/>
  </p:normalViewPr>
  <p:slideViewPr>
    <p:cSldViewPr snapToGrid="0" snapToObjects="1">
      <p:cViewPr varScale="1">
        <p:scale>
          <a:sx n="87" d="100"/>
          <a:sy n="87" d="100"/>
        </p:scale>
        <p:origin x="-336" y="-86"/>
      </p:cViewPr>
      <p:guideLst>
        <p:guide orient="horz" pos="2160"/>
        <p:guide pos="3840"/>
      </p:guideLst>
    </p:cSldViewPr>
  </p:slideViewPr>
  <p:outlineViewPr>
    <p:cViewPr>
      <p:scale>
        <a:sx n="20" d="100"/>
        <a:sy n="2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152291-A36F-4E37-9A31-612BCFCE4CCD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11126F-F694-407D-96E5-BAABF54C74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093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-1097280"/>
            <a:ext cx="4754880" cy="4754880"/>
          </a:xfrm>
          <a:prstGeom prst="ellipse">
            <a:avLst/>
          </a:prstGeom>
          <a:ln w="15875">
            <a:solidFill>
              <a:srgbClr val="1C7293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68335" y="-548640"/>
            <a:ext cx="3657600" cy="3657600"/>
          </a:xfrm>
          <a:prstGeom prst="ellipse">
            <a:avLst/>
          </a:prstGeom>
          <a:ln w="15875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16975" y="0"/>
            <a:ext cx="2560320" cy="2560320"/>
          </a:xfrm>
          <a:prstGeom prst="ellipse">
            <a:avLst/>
          </a:prstGeom>
          <a:ln w="15875">
            <a:solidFill>
              <a:srgbClr val="1C7293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65615" y="548640"/>
            <a:ext cx="1463040" cy="1463040"/>
          </a:xfrm>
          <a:prstGeom prst="ellipse">
            <a:avLst/>
          </a:prstGeom>
          <a:ln w="15875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9975" y="1051560"/>
            <a:ext cx="274320" cy="274320"/>
          </a:xfrm>
          <a:prstGeom prst="ellipse">
            <a:avLst/>
          </a:prstGeom>
          <a:solidFill>
            <a:srgbClr val="4FC3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716280"/>
            <a:ext cx="9875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 WEATHER BIG DATA</a:t>
            </a:r>
            <a:endParaRPr lang="en-US" sz="4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PLATFORM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42823" y="256794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700" i="1" dirty="0">
                <a:solidFill>
                  <a:srgbClr val="CF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WeatherPulse India — Real-time, verified weather intelligence,</a:t>
            </a:r>
            <a:endParaRPr lang="en-US" sz="17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700" i="1" dirty="0">
                <a:solidFill>
                  <a:srgbClr val="CF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collected, analyzed and visualized at national scale.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26948" y="381762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0288" y="380390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</a:t>
            </a:r>
            <a:r>
              <a:rPr lang="en-US" sz="1400" dirty="0" err="1">
                <a:solidFill>
                  <a:srgbClr val="9F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WeatherPulse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5486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726948" y="4146804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26948" y="4300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</a:t>
            </a:r>
            <a:r>
              <a:rPr lang="en-US" sz="1400" dirty="0" smtClean="0">
                <a:solidFill>
                  <a:srgbClr val="9F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</a:t>
            </a:r>
            <a:r>
              <a:rPr lang="en-US" sz="1400" dirty="0" err="1" smtClean="0">
                <a:solidFill>
                  <a:srgbClr val="9F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Apoorva</a:t>
            </a:r>
            <a:r>
              <a:rPr lang="en-US" sz="1400" dirty="0" smtClean="0">
                <a:solidFill>
                  <a:srgbClr val="9F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9F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Nayak</a:t>
            </a:r>
            <a:r>
              <a:rPr lang="en-US" sz="1400" dirty="0" smtClean="0">
                <a:solidFill>
                  <a:srgbClr val="9F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(4AL23CS021)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9F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smtClean="0">
                <a:solidFill>
                  <a:srgbClr val="9F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</a:t>
            </a:r>
            <a:r>
              <a:rPr lang="en-US" sz="1400" dirty="0" err="1" smtClean="0">
                <a:solidFill>
                  <a:srgbClr val="9F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Radhika</a:t>
            </a:r>
            <a:r>
              <a:rPr lang="en-US" sz="1400" dirty="0" smtClean="0">
                <a:solidFill>
                  <a:srgbClr val="9F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9F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Raikar</a:t>
            </a:r>
            <a:r>
              <a:rPr lang="en-US" sz="1400" dirty="0" smtClean="0">
                <a:solidFill>
                  <a:srgbClr val="9F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(4AL23CS115)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17223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kern="0" spc="5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signals are everywhere online — but nowhere trustworthy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62940" y="1869948"/>
            <a:ext cx="777240" cy="777240"/>
          </a:xfrm>
          <a:prstGeom prst="ellipse">
            <a:avLst/>
          </a:prstGeom>
          <a:solidFill>
            <a:srgbClr val="C43D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2940" y="18699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38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8745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data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313432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Rainfall, flood and storm reports are scattered across social media, government portals and citizen posts, with no single verified view.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62940" y="3378708"/>
            <a:ext cx="777240" cy="777240"/>
          </a:xfrm>
          <a:prstGeom prst="ellipse">
            <a:avLst/>
          </a:prstGeom>
          <a:solidFill>
            <a:srgbClr val="D98B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2940" y="33787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38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33832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Unverified &amp; duplicated reports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3822192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Fake, exaggerated or duplicate posts spread faster than official alerts, making it hard to separate signal from noise during an emergency.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2940" y="4887468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" y="488746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38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4892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real-time, geo-tagged intelligence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5330952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rarely combine live location, event category and a trust score in one place — decisions rely on guesswork.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WeatherPulse India  |  National Weather Big Data Analytics Platform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kern="0" spc="5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 data platform for verified, real-time weather intelligence</a:t>
            </a:r>
            <a:endParaRPr lang="en-US" sz="15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109115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WeatherPulse India ingests weather-related posts and data tagged with hashtags like #IMD, along with open government datasets, and processes them using big data tools and machine learning. The system automatically removes duplicates, flags fake or misleading reports, and classifies each event — shown on a live, filterable dashboard with an admin panel for verification.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520440"/>
            <a:ext cx="2606040" cy="1920240"/>
          </a:xfrm>
          <a:prstGeom prst="roundRect">
            <a:avLst>
              <a:gd name="adj" fmla="val 3333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721608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4389120"/>
            <a:ext cx="2350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#IMD posts &amp; open data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27832" y="4361688"/>
            <a:ext cx="265176" cy="237744"/>
          </a:xfrm>
          <a:prstGeom prst="rightArrow">
            <a:avLst/>
          </a:prstGeom>
          <a:solidFill>
            <a:srgbClr val="B9C6CF"/>
          </a:solidFill>
          <a:ln/>
        </p:spPr>
      </p:sp>
      <p:sp>
        <p:nvSpPr>
          <p:cNvPr id="9" name="Shape 7"/>
          <p:cNvSpPr/>
          <p:nvPr/>
        </p:nvSpPr>
        <p:spPr>
          <a:xfrm>
            <a:off x="3474720" y="3520440"/>
            <a:ext cx="2606040" cy="1920240"/>
          </a:xfrm>
          <a:prstGeom prst="roundRect">
            <a:avLst>
              <a:gd name="adj" fmla="val 3333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84448" y="3721608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Verify &amp; Classify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602736" y="4389120"/>
            <a:ext cx="2350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Dedup, fake-flag, categorize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62472" y="4361688"/>
            <a:ext cx="265176" cy="237744"/>
          </a:xfrm>
          <a:prstGeom prst="rightArrow">
            <a:avLst/>
          </a:prstGeom>
          <a:solidFill>
            <a:srgbClr val="B9C6CF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0" y="3520440"/>
            <a:ext cx="2606040" cy="1920240"/>
          </a:xfrm>
          <a:prstGeom prst="roundRect">
            <a:avLst>
              <a:gd name="adj" fmla="val 3333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19088" y="3721608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37376" y="4389120"/>
            <a:ext cx="2350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897112" y="4361688"/>
            <a:ext cx="265176" cy="237744"/>
          </a:xfrm>
          <a:prstGeom prst="rightArrow">
            <a:avLst/>
          </a:prstGeom>
          <a:solidFill>
            <a:srgbClr val="B9C6CF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0" y="3520440"/>
            <a:ext cx="2606040" cy="1920240"/>
          </a:xfrm>
          <a:prstGeom prst="roundRect">
            <a:avLst>
              <a:gd name="adj" fmla="val 3333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53728" y="3721608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&amp; Admin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272016" y="4389120"/>
            <a:ext cx="2350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filterable, verified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WeatherPulse India  |  National Weather Big Data Analytics Platform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kern="0" spc="5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goals that shaped every design decision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62940" y="1778508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2940" y="17785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38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7830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Real-time, multi-source collection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221992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ingest weather signals from social media, open government datasets and citizen reports — not just one source.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62940" y="29489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2940" y="29489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38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295351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AI-verified data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3392424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machine learning to score trust, flag fake reports and remove duplicates before anything is shown.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2940" y="4119372"/>
            <a:ext cx="777240" cy="777240"/>
          </a:xfrm>
          <a:prstGeom prst="ellipse">
            <a:avLst/>
          </a:prstGeom>
          <a:solidFill>
            <a:srgbClr val="D98B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" y="411937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38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412394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visualization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4562856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anyone filter and explore events by date, location and category on a live map and dashboard.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2940" y="5289804"/>
            <a:ext cx="777240" cy="77724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2940" y="52898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38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5294376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traceability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1737360" y="573328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every displayed record links back to a real, verifiable source — no synthetic data, ever.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WeatherPulse India  |  National Weather Big Data Analytics Platform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kern="0" spc="5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platform: collect, verify, analyze and alert — for the whole country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606040" cy="34747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9AAAB6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7340" y="2313432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77340" y="23134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4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00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630168"/>
            <a:ext cx="227685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13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#IMD and weather-tagged posts, citizen reports and open government datasets in real time.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502152" y="2057400"/>
            <a:ext cx="2606040" cy="34747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9AAAB6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9412" y="2313432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39412" y="23134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40" dirty="0"/>
          </a:p>
        </p:txBody>
      </p:sp>
      <p:sp>
        <p:nvSpPr>
          <p:cNvPr id="12" name="Text 10"/>
          <p:cNvSpPr txBox="1"/>
          <p:nvPr/>
        </p:nvSpPr>
        <p:spPr>
          <a:xfrm>
            <a:off x="3639312" y="3200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66744" y="3630168"/>
            <a:ext cx="227685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13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score source trust, flag fake or misleading reports, and remove duplicates automatically.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64224" y="2057400"/>
            <a:ext cx="2606040" cy="34747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9AAAB6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01484" y="2313432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01484" y="23134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40" dirty="0"/>
          </a:p>
        </p:txBody>
      </p:sp>
      <p:sp>
        <p:nvSpPr>
          <p:cNvPr id="17" name="Text 15"/>
          <p:cNvSpPr txBox="1"/>
          <p:nvPr/>
        </p:nvSpPr>
        <p:spPr>
          <a:xfrm>
            <a:off x="6501384" y="3200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528816" y="3630168"/>
            <a:ext cx="227685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13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Auto-categorize into rainfall, flood, storm, heatwave, fog, dust and wind events with location and time.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226296" y="2057400"/>
            <a:ext cx="2606040" cy="34747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9AAAB6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163556" y="2313432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163556" y="23134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40" dirty="0"/>
          </a:p>
        </p:txBody>
      </p:sp>
      <p:sp>
        <p:nvSpPr>
          <p:cNvPr id="22" name="Text 20"/>
          <p:cNvSpPr txBox="1"/>
          <p:nvPr/>
        </p:nvSpPr>
        <p:spPr>
          <a:xfrm>
            <a:off x="9363456" y="3200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390888" y="3630168"/>
            <a:ext cx="227685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13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verified, filterable insights on a live map and dashboard the moment they're confirmed.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WeatherPulse India  |  National Weather Big Data Analytics Platform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kern="0" spc="5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moderator or citizen needs, filtered in real time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7492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09397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54480" y="203911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Map &amp; Alerts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679192"/>
            <a:ext cx="4562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Geo-tagged markers colored by IMD severity (Green / Yellow / Orange / Red), auto-fit to India.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1874520"/>
            <a:ext cx="507492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91072" y="209397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49440" y="203911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Filters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291072" y="2679192"/>
            <a:ext cx="4562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hashtag, date range, state, event category and verification status — all working together.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507492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396849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D98B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554480" y="391363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Queue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4553712"/>
            <a:ext cx="4562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review ML-flagged reports with confidence scores, then verify or reject in one click.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3749040"/>
            <a:ext cx="507492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91072" y="396849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E8B5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49440" y="391363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View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291072" y="4553712"/>
            <a:ext cx="4562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and state-wise breakdowns of events, sourced entirely from stored, traceable records.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5778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designed to meet government accessibility and trust standards — clear contrast, readable typography, verified-source labeling.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WeatherPulse India  |  National Weather Big Data Analytics Platform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kern="0" spc="5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REAL, GOVERNMENT-VERIFIED DATA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synthetic data — every record is traceable to its source</a:t>
            </a:r>
            <a:endParaRPr lang="en-US" sz="15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487168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235000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data.gov.in — Open Government Data Platform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" y="3017520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32688" y="28803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— India Meteorological Department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85800" y="3547872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32688" y="341071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POWER — historical &amp; gridded weather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85800" y="4078224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32688" y="394106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— live forecast, no key required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309360" y="1965960"/>
            <a:ext cx="0" cy="4206240"/>
          </a:xfrm>
          <a:prstGeom prst="line">
            <a:avLst/>
          </a:prstGeom>
          <a:noFill/>
          <a:ln w="12700">
            <a:solidFill>
              <a:srgbClr val="D6E1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83680" y="2423160"/>
            <a:ext cx="1874520" cy="566928"/>
          </a:xfrm>
          <a:prstGeom prst="roundRect">
            <a:avLst>
              <a:gd name="adj" fmla="val 48387"/>
            </a:avLst>
          </a:prstGeom>
          <a:solidFill>
            <a:srgbClr val="E7F1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0" y="242316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Vanilla CSS3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22792" y="2423160"/>
            <a:ext cx="1874520" cy="566928"/>
          </a:xfrm>
          <a:prstGeom prst="roundRect">
            <a:avLst>
              <a:gd name="adj" fmla="val 48387"/>
            </a:avLst>
          </a:prstGeom>
          <a:solidFill>
            <a:srgbClr val="E7F1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22792" y="242316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</a:t>
            </a:r>
            <a:r>
              <a:rPr lang="en-US" sz="1300" b="1" dirty="0" err="1" smtClean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0" y="3191256"/>
            <a:ext cx="1874520" cy="566928"/>
          </a:xfrm>
          <a:prstGeom prst="roundRect">
            <a:avLst>
              <a:gd name="adj" fmla="val 48387"/>
            </a:avLst>
          </a:prstGeom>
          <a:solidFill>
            <a:srgbClr val="E7F1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0" y="319125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622792" y="3191256"/>
            <a:ext cx="1874520" cy="566928"/>
          </a:xfrm>
          <a:prstGeom prst="roundRect">
            <a:avLst>
              <a:gd name="adj" fmla="val 48387"/>
            </a:avLst>
          </a:prstGeom>
          <a:solidFill>
            <a:srgbClr val="E7F1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22792" y="319125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83680" y="3959352"/>
            <a:ext cx="1874520" cy="566928"/>
          </a:xfrm>
          <a:prstGeom prst="roundRect">
            <a:avLst>
              <a:gd name="adj" fmla="val 48387"/>
            </a:avLst>
          </a:prstGeom>
          <a:solidFill>
            <a:srgbClr val="E7F1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0" y="395935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622792" y="3959352"/>
            <a:ext cx="1874520" cy="566928"/>
          </a:xfrm>
          <a:prstGeom prst="roundRect">
            <a:avLst>
              <a:gd name="adj" fmla="val 48387"/>
            </a:avLst>
          </a:prstGeom>
          <a:solidFill>
            <a:srgbClr val="E7F1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22792" y="395935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83680" y="4727448"/>
            <a:ext cx="1874520" cy="566928"/>
          </a:xfrm>
          <a:prstGeom prst="roundRect">
            <a:avLst>
              <a:gd name="adj" fmla="val 48387"/>
            </a:avLst>
          </a:prstGeom>
          <a:solidFill>
            <a:srgbClr val="E7F1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0" y="472744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622792" y="4727448"/>
            <a:ext cx="1874520" cy="566928"/>
          </a:xfrm>
          <a:prstGeom prst="roundRect">
            <a:avLst>
              <a:gd name="adj" fmla="val 48387"/>
            </a:avLst>
          </a:prstGeom>
          <a:solidFill>
            <a:srgbClr val="E7F1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22792" y="472744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</a:p>
          <a:p>
            <a:pPr marL="0" indent="0" algn="ctr">
              <a:buNone/>
            </a:pPr>
            <a:r>
              <a:rPr lang="en-US" sz="1300" b="1" dirty="0" smtClean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(Open-</a:t>
            </a:r>
            <a:r>
              <a:rPr lang="en-US" sz="1300" b="1" dirty="0" err="1" smtClean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</a:t>
            </a:r>
            <a:r>
              <a:rPr lang="en-US" sz="1300" b="1" dirty="0" smtClean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IMD)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WeatherPulse India  |  National Weather Big Data Analytics Platform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930830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WHAT'S NEXT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08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4FC3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 HELPS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2130552"/>
            <a:ext cx="91440" cy="91440"/>
          </a:xfrm>
          <a:prstGeom prst="ellipse">
            <a:avLst/>
          </a:prstGeom>
          <a:solidFill>
            <a:srgbClr val="4FC3D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2688" y="196596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F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management authorities — faster, verified situational awareness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907792"/>
            <a:ext cx="91440" cy="91440"/>
          </a:xfrm>
          <a:prstGeom prst="ellipse">
            <a:avLst/>
          </a:prstGeom>
          <a:solidFill>
            <a:srgbClr val="4FC3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32688" y="274320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F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— a single trusted view instead of scattered, unverified posts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685032"/>
            <a:ext cx="91440" cy="91440"/>
          </a:xfrm>
          <a:prstGeom prst="ellipse">
            <a:avLst/>
          </a:prstGeom>
          <a:solidFill>
            <a:srgbClr val="4FC3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32688" y="352044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F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Journalists &amp; researchers — geo-tagged, source-linked event history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508760"/>
            <a:ext cx="0" cy="3108960"/>
          </a:xfrm>
          <a:prstGeom prst="line">
            <a:avLst/>
          </a:prstGeom>
          <a:noFill/>
          <a:ln w="12700">
            <a:solidFill>
              <a:srgbClr val="3A4A7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4FC3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629400" y="2130552"/>
            <a:ext cx="91440" cy="91440"/>
          </a:xfrm>
          <a:prstGeom prst="ellipse">
            <a:avLst/>
          </a:prstGeom>
          <a:solidFill>
            <a:srgbClr val="4FC3D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76288" y="19659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F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integration with state disaster-management authorities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629400" y="2907792"/>
            <a:ext cx="91440" cy="91440"/>
          </a:xfrm>
          <a:prstGeom prst="ellipse">
            <a:avLst/>
          </a:prstGeom>
          <a:solidFill>
            <a:srgbClr val="4FC3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76288" y="27432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F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IVR alerts for low-connectivity and rural areas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29400" y="3685032"/>
            <a:ext cx="91440" cy="91440"/>
          </a:xfrm>
          <a:prstGeom prst="ellipse">
            <a:avLst/>
          </a:prstGeom>
          <a:solidFill>
            <a:srgbClr val="4FC3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76288" y="35204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F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 across major Indian languages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WeatherPulse India  |  National Weather Big Data Analytics Platform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568361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0" y="635000"/>
            <a:ext cx="11560175" cy="558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82879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850" y="658813"/>
            <a:ext cx="11293475" cy="554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4277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84168" y="91440"/>
            <a:ext cx="4023360" cy="4023360"/>
          </a:xfrm>
          <a:prstGeom prst="ellipse">
            <a:avLst/>
          </a:prstGeom>
          <a:ln w="15875">
            <a:solidFill>
              <a:srgbClr val="1C7293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32808" y="640080"/>
            <a:ext cx="2926080" cy="2926080"/>
          </a:xfrm>
          <a:prstGeom prst="ellipse">
            <a:avLst/>
          </a:prstGeom>
          <a:ln w="15875">
            <a:solidFill>
              <a:srgbClr val="1C7293">
                <a:alpha val="6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81448" y="1188720"/>
            <a:ext cx="1828800" cy="1828800"/>
          </a:xfrm>
          <a:prstGeom prst="ellipse">
            <a:avLst/>
          </a:prstGeom>
          <a:ln w="15875">
            <a:solidFill>
              <a:srgbClr val="1C7293">
                <a:alpha val="5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67832" y="1975104"/>
            <a:ext cx="256032" cy="256032"/>
          </a:xfrm>
          <a:prstGeom prst="ellipse">
            <a:avLst/>
          </a:prstGeom>
          <a:solidFill>
            <a:srgbClr val="4FC3D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0" y="34290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7" name="Text 5"/>
          <p:cNvSpPr txBox="1"/>
          <p:nvPr/>
        </p:nvSpPr>
        <p:spPr>
          <a:xfrm>
            <a:off x="0" y="42519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F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90008" y="484632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F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Radhika Raikar  •  Computer Science, AIET Mangalore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0" y="5413248"/>
            <a:ext cx="121916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7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github.com/radhikaraikar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</TotalTime>
  <Words>761</Words>
  <Application>Microsoft Office PowerPoint</Application>
  <PresentationFormat>Custom</PresentationFormat>
  <Paragraphs>121</Paragraphs>
  <Slides>11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5</cp:revision>
  <dcterms:created xsi:type="dcterms:W3CDTF">2026-09-29T04:07:59Z</dcterms:created>
  <dcterms:modified xsi:type="dcterms:W3CDTF">2026-09-30T03:03:33Z</dcterms:modified>
</cp:coreProperties>
</file>